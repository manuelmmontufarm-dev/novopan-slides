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97BC62"/>
                </a:solidFill>
                <a:latin typeface="Calibri"/>
              </a:rPr>
              <a:t>PASANTÍA · 15 DE JUNIO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 i="0">
                <a:solidFill>
                  <a:srgbClr val="F5F2E8"/>
                </a:solidFill>
                <a:latin typeface="Georgia"/>
              </a:rPr>
              <a:t>Cómo Novopan convierte</a:t>
            </a:r>
          </a:p>
          <a:p>
            <a:pPr algn="l"/>
            <a:r>
              <a:rPr sz="5400" b="1" i="0">
                <a:solidFill>
                  <a:srgbClr val="F5F2E8"/>
                </a:solidFill>
                <a:latin typeface="Georgia"/>
              </a:rPr>
              <a:t>madera en tableros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CFE0B8"/>
                </a:solidFill>
                <a:latin typeface="Calibri"/>
              </a:rPr>
              <a:t>Una mirada al flujo de patios, secado, prensa y reportería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97BC62"/>
                </a:solidFill>
                <a:latin typeface="Calibri"/>
              </a:rPr>
              <a:t>Notas de visita a planta · Quito, Ecuador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CFE0B8"/>
                </a:solidFill>
                <a:latin typeface="Calibri"/>
              </a:rPr>
              <a:t>Síntesis de 9 audios + notas de campo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8B5A2B"/>
                </a:solidFill>
                <a:latin typeface="Calibri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A1F"/>
                </a:solidFill>
                <a:latin typeface="Georgia"/>
              </a:rPr>
              <a:t>¿Qué fabrica Novopan?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2C5F2D"/>
                </a:solidFill>
                <a:latin typeface="Georgia"/>
              </a:rPr>
              <a:t>Tableros de partículas de madera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6400800" cy="3200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1F2A1F"/>
                </a:solidFill>
                <a:latin typeface="Calibri"/>
              </a:rPr>
              <a:t>Novopan transforma madera rolliza, chip y aserrín en</a:t>
            </a:r>
          </a:p>
          <a:p>
            <a:pPr algn="l"/>
            <a:r>
              <a:rPr sz="1600" b="0" i="0">
                <a:solidFill>
                  <a:srgbClr val="1F2A1F"/>
                </a:solidFill>
                <a:latin typeface="Calibri"/>
              </a:rPr>
              <a:t>tableros aglomerados (MDP). El proceso combina muchas</a:t>
            </a:r>
          </a:p>
          <a:p>
            <a:pPr algn="l"/>
            <a:r>
              <a:rPr sz="1600" b="0" i="0">
                <a:solidFill>
                  <a:srgbClr val="1F2A1F"/>
                </a:solidFill>
                <a:latin typeface="Calibri"/>
              </a:rPr>
              <a:t>especies — pino, eucalipto, melina, teca, caucho y otras</a:t>
            </a:r>
          </a:p>
          <a:p>
            <a:pPr algn="l"/>
            <a:r>
              <a:rPr sz="1600" b="0" i="0">
                <a:solidFill>
                  <a:srgbClr val="1F2A1F"/>
                </a:solidFill>
                <a:latin typeface="Calibri"/>
              </a:rPr>
              <a:t>tropicales — en una receta que cambia según el producto</a:t>
            </a:r>
          </a:p>
          <a:p>
            <a:pPr algn="l"/>
            <a:r>
              <a:rPr sz="1600" b="0" i="0">
                <a:solidFill>
                  <a:srgbClr val="1F2A1F"/>
                </a:solidFill>
                <a:latin typeface="Calibri"/>
              </a:rPr>
              <a:t>y la humedad del día.</a:t>
            </a:r>
          </a:p>
          <a:p>
            <a:pPr algn="l"/>
            <a:r>
              <a:rPr sz="1600" b="0" i="0">
                <a:solidFill>
                  <a:srgbClr val="1F2A1F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1F2A1F"/>
                </a:solidFill>
                <a:latin typeface="Calibri"/>
              </a:rPr>
              <a:t>La planta opera 24 horas: hay descargas, alimentación,</a:t>
            </a:r>
          </a:p>
          <a:p>
            <a:pPr algn="l"/>
            <a:r>
              <a:rPr sz="1600" b="0" i="0">
                <a:solidFill>
                  <a:srgbClr val="1F2A1F"/>
                </a:solidFill>
                <a:latin typeface="Calibri"/>
              </a:rPr>
              <a:t>secado, prensa y mantenimiento corriendo todo el tiempo.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737360"/>
            <a:ext cx="4114800" cy="128016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737360"/>
            <a:ext cx="109728" cy="12801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399" y="1847088"/>
            <a:ext cx="3749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C5F2D"/>
                </a:solidFill>
                <a:latin typeface="Georgia"/>
              </a:rPr>
              <a:t>MDP estándar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399" y="2194560"/>
            <a:ext cx="37490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Tablero de densidad media para uso interior.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200400"/>
            <a:ext cx="4114800" cy="128016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3200400"/>
            <a:ext cx="109728" cy="12801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399" y="3310128"/>
            <a:ext cx="3749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C5F2D"/>
                </a:solidFill>
                <a:latin typeface="Georgia"/>
              </a:rPr>
              <a:t>MDP-RH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399" y="3657600"/>
            <a:ext cx="37490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Variante resistente a la humedad — más chip</a:t>
            </a:r>
          </a:p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tropical en la receta (nota del audio).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4663440"/>
            <a:ext cx="4114800" cy="128016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4663440"/>
            <a:ext cx="109728" cy="12801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399" y="4773168"/>
            <a:ext cx="3749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C5F2D"/>
                </a:solidFill>
                <a:latin typeface="Georgia"/>
              </a:rPr>
              <a:t>Subproductos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399" y="5120640"/>
            <a:ext cx="37490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Corteza, polvo y triturado contaminado</a:t>
            </a:r>
          </a:p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se queman como biomasa para los secaderos.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8B5A2B"/>
                </a:solidFill>
                <a:latin typeface="Calibri"/>
              </a:rPr>
              <a:t>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A1F"/>
                </a:solidFill>
                <a:latin typeface="Georgia"/>
              </a:rPr>
              <a:t>Personas clave durante la pasantía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303520" cy="118872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011680"/>
            <a:ext cx="822960" cy="82296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5F2E8"/>
                </a:solidFill>
                <a:latin typeface="Georgia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1168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F2A1F"/>
                </a:solidFill>
                <a:latin typeface="Georgia"/>
              </a:rPr>
              <a:t>Carlos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42316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Gerente de planta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828800"/>
            <a:ext cx="5303520" cy="118872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63640" y="2011680"/>
            <a:ext cx="822960" cy="82296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5F2E8"/>
                </a:solidFill>
                <a:latin typeface="Georgia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01168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F2A1F"/>
                </a:solidFill>
                <a:latin typeface="Georgia"/>
              </a:rPr>
              <a:t>Angelo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42316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Gerente de la línea chica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46120"/>
            <a:ext cx="5303520" cy="118872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3429000"/>
            <a:ext cx="822960" cy="82296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5F2E8"/>
                </a:solidFill>
                <a:latin typeface="Georgia"/>
              </a:rPr>
              <a:t>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4290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F2A1F"/>
                </a:solidFill>
                <a:latin typeface="Georgia"/>
              </a:rPr>
              <a:t>Gabriel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84048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Jefe de patios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3246120"/>
            <a:ext cx="5303520" cy="118872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3640" y="3429000"/>
            <a:ext cx="822960" cy="82296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5F2E8"/>
                </a:solidFill>
                <a:latin typeface="Georgia"/>
              </a:rPr>
              <a:t>J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4290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F2A1F"/>
                </a:solidFill>
                <a:latin typeface="Georgia"/>
              </a:rPr>
              <a:t>Jorge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84048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Jefe de producción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63440"/>
            <a:ext cx="5303520" cy="118872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4846320"/>
            <a:ext cx="822960" cy="82296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5F2E8"/>
                </a:solidFill>
                <a:latin typeface="Georgia"/>
              </a:rPr>
              <a:t>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84632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F2A1F"/>
                </a:solidFill>
                <a:latin typeface="Georgia"/>
              </a:rPr>
              <a:t>Iván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25780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2.º jefe de producción — guía principal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4663440"/>
            <a:ext cx="5303520" cy="118872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63640" y="4846320"/>
            <a:ext cx="822960" cy="82296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5F2E8"/>
                </a:solidFill>
                <a:latin typeface="Georgia"/>
              </a:rPr>
              <a:t>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84632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F2A1F"/>
                </a:solidFill>
                <a:latin typeface="Georgia"/>
              </a:rPr>
              <a:t>Franklin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5257800"/>
            <a:ext cx="4023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Jefe de control de calidad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8B5A2B"/>
                </a:solidFill>
                <a:latin typeface="Calibri"/>
              </a:rPr>
              <a:t>MATERIA PRIMA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A1F"/>
                </a:solidFill>
                <a:latin typeface="Georgia"/>
              </a:rPr>
              <a:t>Especies que entran al patio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6B6B6B"/>
                </a:solidFill>
                <a:latin typeface="Calibri"/>
              </a:rPr>
              <a:t>Se diferencia entre madera tropical (Costa) y no tropical (Sierra).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C5F2D"/>
                </a:solidFill>
                <a:latin typeface="Georgia"/>
              </a:rPr>
              <a:t>NO TROPICAL · Sierra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5486400" cy="3017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• Pino — alta rotación, repele la lluvia gracias a corteza</a:t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   y resina; se descortece y va a la línea.</a:t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• Eucalipto (globulus, urograndis) — alta rotación,</a:t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   absorbe humedad rápido. Siempre descortezado.</a:t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→ Llegan ya descortezados o pasan por la descortezadora</a:t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   de la sierra. La corteza va a biomasa.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8B5A2B"/>
                </a:solidFill>
                <a:latin typeface="Georgia"/>
              </a:rPr>
              <a:t>TROPICAL · Costa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26080"/>
            <a:ext cx="5486400" cy="3017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• Melina, Teca, Caucho y otras especies tropicales.</a:t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• Mezcladas: a veces no se conoce con exactitud qué</a:t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   especies vienen en un mismo lote.</a:t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• Tienden a absorber más humedad → afectan la receta</a:t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   y la velocidad del secador.</a:t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→ Llega como rollizo o ya chipeado.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8B5A2B"/>
                </a:solidFill>
                <a:latin typeface="Calibri"/>
              </a:rPr>
              <a:t>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A1F"/>
                </a:solidFill>
                <a:latin typeface="Georgia"/>
              </a:rPr>
              <a:t>Cuatro fracciones que alimentan la planta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743200" cy="420624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743200" cy="6400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5F2E8"/>
                </a:solidFill>
                <a:latin typeface="Georgia"/>
              </a:rPr>
              <a:t>Rollizo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Tronco completo. Entra entero a chipeadora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o se descorteza primero.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828800"/>
            <a:ext cx="2743200" cy="420624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828800"/>
            <a:ext cx="2743200" cy="6400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92024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5F2E8"/>
                </a:solidFill>
                <a:latin typeface="Georgia"/>
              </a:rPr>
              <a:t>Chip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74320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Astillas / trozos medianos. Pueden venir ya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chipeados (chip tropical) o salir de la Maier.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828800"/>
            <a:ext cx="2743200" cy="420624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828800"/>
            <a:ext cx="2743200" cy="6400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92024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5F2E8"/>
                </a:solidFill>
                <a:latin typeface="Georgia"/>
              </a:rPr>
              <a:t>Aserrín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74320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Material fino que sale del proceso. Se mezcla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con chip en la receta de alimentación.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828800"/>
            <a:ext cx="2743200" cy="420624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828800"/>
            <a:ext cx="2743200" cy="6400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920240"/>
            <a:ext cx="2286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5F2E8"/>
                </a:solidFill>
                <a:latin typeface="Georgia"/>
              </a:rPr>
              <a:t>Polvo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74320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Fracción muy fina. Va a biomasa como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combustible de los secadores.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8B5A2B"/>
                </a:solidFill>
                <a:latin typeface="Calibri"/>
              </a:rPr>
              <a:t>MAPA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A1F"/>
                </a:solidFill>
                <a:latin typeface="Georgia"/>
              </a:rPr>
              <a:t>El flujo general, en ocho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606040" cy="173736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2402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1F2A1F"/>
                </a:solidFill>
                <a:latin typeface="Georgia"/>
              </a:rPr>
              <a:t>Recepción</a:t>
            </a:r>
          </a:p>
          <a:p>
            <a:pPr algn="l"/>
            <a:r>
              <a:rPr sz="1500" b="1" i="0">
                <a:solidFill>
                  <a:srgbClr val="1F2A1F"/>
                </a:solidFill>
                <a:latin typeface="Georgia"/>
              </a:rPr>
              <a:t>(balanza)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4680" y="2560320"/>
            <a:ext cx="164592" cy="274320"/>
          </a:xfrm>
          <a:prstGeom prst="rightArrow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19272" y="1828800"/>
            <a:ext cx="2606040" cy="173736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02152" y="2011680"/>
            <a:ext cx="502920" cy="50292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651760"/>
            <a:ext cx="22402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1F2A1F"/>
                </a:solidFill>
                <a:latin typeface="Georgia"/>
              </a:rPr>
              <a:t>Patio</a:t>
            </a:r>
          </a:p>
          <a:p>
            <a:pPr algn="l"/>
            <a:r>
              <a:rPr sz="1500" b="1" i="0">
                <a:solidFill>
                  <a:srgbClr val="1F2A1F"/>
                </a:solidFill>
                <a:latin typeface="Georgia"/>
              </a:rPr>
              <a:t>(rumas)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25312" y="2560320"/>
            <a:ext cx="164592" cy="274320"/>
          </a:xfrm>
          <a:prstGeom prst="rightArrow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9904" y="1828800"/>
            <a:ext cx="2606040" cy="173736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72784" y="2011680"/>
            <a:ext cx="502920" cy="50292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651760"/>
            <a:ext cx="22402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1F2A1F"/>
                </a:solidFill>
                <a:latin typeface="Georgia"/>
              </a:rPr>
              <a:t>Pisos móviles</a:t>
            </a:r>
          </a:p>
          <a:p>
            <a:pPr algn="l"/>
            <a:r>
              <a:rPr sz="1500" b="1" i="0">
                <a:solidFill>
                  <a:srgbClr val="1F2A1F"/>
                </a:solidFill>
                <a:latin typeface="Georgia"/>
              </a:rPr>
              <a:t>+ receta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95944" y="2560320"/>
            <a:ext cx="164592" cy="274320"/>
          </a:xfrm>
          <a:prstGeom prst="rightArrow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0536" y="1828800"/>
            <a:ext cx="2606040" cy="173736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43416" y="2011680"/>
            <a:ext cx="502920" cy="50292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651760"/>
            <a:ext cx="22402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1F2A1F"/>
                </a:solidFill>
                <a:latin typeface="Georgia"/>
              </a:rPr>
              <a:t>Chipeadora</a:t>
            </a:r>
          </a:p>
          <a:p>
            <a:pPr algn="l"/>
            <a:r>
              <a:rPr sz="1500" b="1" i="0">
                <a:solidFill>
                  <a:srgbClr val="1F2A1F"/>
                </a:solidFill>
                <a:latin typeface="Georgia"/>
              </a:rPr>
              <a:t>+ molinos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77640"/>
            <a:ext cx="2606040" cy="173736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160520"/>
            <a:ext cx="502920" cy="50292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00600"/>
            <a:ext cx="22402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1F2A1F"/>
                </a:solidFill>
                <a:latin typeface="Georgia"/>
              </a:rPr>
              <a:t>Secado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154680" y="4709160"/>
            <a:ext cx="164592" cy="274320"/>
          </a:xfrm>
          <a:prstGeom prst="rightArrow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19272" y="3977640"/>
            <a:ext cx="2606040" cy="173736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02152" y="4160520"/>
            <a:ext cx="502920" cy="50292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4800600"/>
            <a:ext cx="22402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1F2A1F"/>
                </a:solidFill>
                <a:latin typeface="Georgia"/>
              </a:rPr>
              <a:t>Clasificación</a:t>
            </a:r>
          </a:p>
          <a:p>
            <a:pPr algn="l"/>
            <a:r>
              <a:rPr sz="1500" b="1" i="0">
                <a:solidFill>
                  <a:srgbClr val="1F2A1F"/>
                </a:solidFill>
                <a:latin typeface="Georgia"/>
              </a:rPr>
              <a:t>(zarandas)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925312" y="4709160"/>
            <a:ext cx="164592" cy="274320"/>
          </a:xfrm>
          <a:prstGeom prst="rightArrow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9904" y="3977640"/>
            <a:ext cx="2606040" cy="173736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72784" y="4160520"/>
            <a:ext cx="502920" cy="50292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4" y="4800600"/>
            <a:ext cx="22402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1F2A1F"/>
                </a:solidFill>
                <a:latin typeface="Georgia"/>
              </a:rPr>
              <a:t>Silos</a:t>
            </a:r>
          </a:p>
          <a:p>
            <a:pPr algn="l"/>
            <a:r>
              <a:rPr sz="1500" b="1" i="0">
                <a:solidFill>
                  <a:srgbClr val="1F2A1F"/>
                </a:solidFill>
                <a:latin typeface="Georgia"/>
              </a:rPr>
              <a:t>+ encolado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695944" y="4709160"/>
            <a:ext cx="164592" cy="274320"/>
          </a:xfrm>
          <a:prstGeom prst="rightArrow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60536" y="3977640"/>
            <a:ext cx="2606040" cy="173736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043416" y="4160520"/>
            <a:ext cx="502920" cy="50292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43416" y="4800600"/>
            <a:ext cx="22402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1F2A1F"/>
                </a:solidFill>
                <a:latin typeface="Georgia"/>
              </a:rPr>
              <a:t>Prensa</a:t>
            </a:r>
          </a:p>
          <a:p>
            <a:pPr algn="l"/>
            <a:r>
              <a:rPr sz="1500" b="1" i="0">
                <a:solidFill>
                  <a:srgbClr val="1F2A1F"/>
                </a:solidFill>
                <a:latin typeface="Georgia"/>
              </a:rPr>
              <a:t>→ tablero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Los pasos 3–7 son los que más cambian día a día según humedad y receta.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8B5A2B"/>
                </a:solidFill>
                <a:latin typeface="Calibri"/>
              </a:rPr>
              <a:t>PASO 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A1F"/>
                </a:solidFill>
                <a:latin typeface="Georgia"/>
              </a:rPr>
              <a:t>Recepción y patios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2C5F2D"/>
                </a:solidFill>
                <a:latin typeface="Georgia"/>
              </a:rPr>
              <a:t>Lo que pasa al entrar un camión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5486400" cy="4114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1. Balanza de entrada → peso, proveedor, especie,</a:t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   transportista, servicio de explotación.</a:t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2. Asignación de patio de descarga.</a:t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3. Descarga con grúa (24/7).</a:t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4. Balanza de salida → peso final, tiempo en planta.</a:t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Tipos de proveedor: propio, terceros, transportista.</a:t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Cada artículo tiene código (p. ej., 05 = pino).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Georgia"/>
              </a:rPr>
              <a:t>Lógica del patio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5486400" cy="4114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La especie que más se consume va MÁS CERCA</a:t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de producción. Cada minuto cuenta:</a:t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• Pino → alta rotación → cerca</a:t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• Eucalipto → alta rotación → cerca</a:t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• Tropicales mezclados → pueden quedar más lejos</a:t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Una ruma ≈ 250 toneladas secas. Algunas duran</a:t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un mes, otras se acaban en dos días.</a:t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1F2A1F"/>
                </a:solidFill>
                <a:latin typeface="Calibri"/>
              </a:rPr>
              <a:t>Gabriel y su equipo deciden el layout diario.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8B5A2B"/>
                </a:solidFill>
                <a:latin typeface="Calibri"/>
              </a:rPr>
              <a:t>PATIO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A1F"/>
                </a:solidFill>
                <a:latin typeface="Georgia"/>
              </a:rPr>
              <a:t>La humedad no es uniforme dentro de una ruma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79" y="1828800"/>
            <a:ext cx="4114800" cy="1524000"/>
          </a:xfrm>
          <a:prstGeom prst="rect">
            <a:avLst/>
          </a:prstGeom>
          <a:solidFill>
            <a:srgbClr val="EAD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59" y="2194560"/>
            <a:ext cx="3749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Georgia"/>
              </a:rPr>
              <a:t>Más seca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59" y="2697480"/>
            <a:ext cx="3749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Sol y aire la secan rápido.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3352800"/>
            <a:ext cx="4114800" cy="1524000"/>
          </a:xfrm>
          <a:prstGeom prst="rect">
            <a:avLst/>
          </a:prstGeom>
          <a:solidFill>
            <a:srgbClr val="C2C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59" y="3718560"/>
            <a:ext cx="3749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2C5F2D"/>
                </a:solidFill>
                <a:latin typeface="Georgia"/>
              </a:rPr>
              <a:t>Humedad media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4221480"/>
            <a:ext cx="3749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Conserva humedad — poco contacto con</a:t>
            </a:r>
          </a:p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el exterior.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4876800"/>
            <a:ext cx="4114800" cy="1524000"/>
          </a:xfrm>
          <a:prstGeom prst="rect">
            <a:avLst/>
          </a:prstGeom>
          <a:solidFill>
            <a:srgbClr val="7C9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59" y="5242560"/>
            <a:ext cx="3749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5F2E8"/>
                </a:solidFill>
                <a:latin typeface="Georgia"/>
              </a:rPr>
              <a:t>Más húmeda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59" y="5745480"/>
            <a:ext cx="3749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5F2E8"/>
                </a:solidFill>
                <a:latin typeface="Calibri"/>
              </a:rPr>
              <a:t>Contacto con el suelo y poca ventilación.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828800"/>
            <a:ext cx="6675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2C5F2D"/>
                </a:solidFill>
                <a:latin typeface="Georgia"/>
              </a:rPr>
              <a:t>Por qué importa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331720"/>
            <a:ext cx="6675120" cy="4206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El secador trabaja bien hasta ~110 % de humedad de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ingreso. Con lluvia, lotes tropicales o eucalipto pueden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llegar a 140–150 % — el secador se sobreexige y la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línea baja velocidad.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Mediciones que hace patios: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  • Humedad de ingreso (al recibir).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  • Humedad de consumo (al triturar).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  • Factor de apilamiento (descuenta huecos entre troncos).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  • Densidad por especie (diámetro × volumen vs. peso).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Sirven para estimar toneladas secas disponibles y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ajustar la receta del día.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8B5A2B"/>
                </a:solidFill>
                <a:latin typeface="Calibri"/>
              </a:rPr>
              <a:t>PASO 3–4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A1F"/>
                </a:solidFill>
                <a:latin typeface="Georgia"/>
              </a:rPr>
              <a:t>Reducción de tamaño: chipeadora y molino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703320" cy="420624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703320" cy="64008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33375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5F2E8"/>
                </a:solidFill>
                <a:latin typeface="Georgia"/>
              </a:rPr>
              <a:t>Chipeadora Maier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324612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8B5A2B"/>
                </a:solidFill>
                <a:latin typeface="Calibri"/>
              </a:rPr>
              <a:t>QUÉ 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324612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Chipper de tambor (drum chipper).</a:t>
            </a:r>
          </a:p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Maier Holzhacker es un fabricante alemán</a:t>
            </a:r>
          </a:p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estándar en plantas de tablero.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3484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8B5A2B"/>
                </a:solidFill>
                <a:latin typeface="Calibri"/>
              </a:rPr>
              <a:t>QUÉ HACE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09160"/>
            <a:ext cx="32461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Convierte rollizos en CHIPS de</a:t>
            </a:r>
          </a:p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~25–35 mm — el primer paso</a:t>
            </a:r>
          </a:p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de reducción.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828800"/>
            <a:ext cx="3703320" cy="420624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3703320" cy="64008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938528"/>
            <a:ext cx="33375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5F2E8"/>
                </a:solidFill>
                <a:latin typeface="Georgia"/>
              </a:rPr>
              <a:t>Flaker tipo Hombak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697480"/>
            <a:ext cx="324612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8B5A2B"/>
                </a:solidFill>
                <a:latin typeface="Calibri"/>
              </a:rPr>
              <a:t>QUÉ 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971800"/>
            <a:ext cx="324612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Hombak fabrica knife-ring flakers y</a:t>
            </a:r>
          </a:p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hammermills muy comunes en MDP.</a:t>
            </a:r>
          </a:p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(En los audios: «hombak / combak»).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43484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8B5A2B"/>
                </a:solidFill>
                <a:latin typeface="Calibri"/>
              </a:rPr>
              <a:t>QUÉ HACE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709160"/>
            <a:ext cx="32461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Toma el chip seco o el rollizo corto</a:t>
            </a:r>
          </a:p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y produce HOJUELAS finas, listas</a:t>
            </a:r>
          </a:p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para el tablero.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828800"/>
            <a:ext cx="3703320" cy="420624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828800"/>
            <a:ext cx="3703320" cy="64008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1938528"/>
            <a:ext cx="33375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5F2E8"/>
                </a:solidFill>
                <a:latin typeface="Georgia"/>
              </a:rPr>
              <a:t>Molino re-trituración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697480"/>
            <a:ext cx="324612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8B5A2B"/>
                </a:solidFill>
                <a:latin typeface="Calibri"/>
              </a:rPr>
              <a:t>QUÉ 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971800"/>
            <a:ext cx="324612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Las partículas demasiado gruesas que</a:t>
            </a:r>
          </a:p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devuelve la zaranda regresan al molino.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4434840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8B5A2B"/>
                </a:solidFill>
                <a:latin typeface="Calibri"/>
              </a:rPr>
              <a:t>QUÉ HACE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4709160"/>
            <a:ext cx="324612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Garantiza que todo el material</a:t>
            </a:r>
          </a:p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llegue al tamaño de receta</a:t>
            </a:r>
          </a:p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antes del encolado.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★ Información de fabricantes completada por investigación — los nombres en audio sonaban como «Mayer» y «Hombak/Combak».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8B5A2B"/>
                </a:solidFill>
                <a:latin typeface="Calibri"/>
              </a:rPr>
              <a:t>PASO 5–6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A1F"/>
                </a:solidFill>
                <a:latin typeface="Georgia"/>
              </a:rPr>
              <a:t>Secado y clasificación de partículas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2C5F2D"/>
                </a:solidFill>
                <a:latin typeface="Georgia"/>
              </a:rPr>
              <a:t>Secado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5486400" cy="4114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Secaderos de tambor rotativo. La línea 2 tiene un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secador de mayor capacidad (≈30) que las dos de la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línea 1.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Combustible: gas + biomasa propia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  • Corteza retirada en descortezado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  • Polvo fino de las zarandas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  • Triturado de material reciclado o contaminado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Vapor de agua → sistema de tratamiento de humo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(en el audio: «Dynesty» — probable inyector de vapor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tipo Dieffenbacher o equipo similar).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8B5A2B"/>
                </a:solidFill>
                <a:latin typeface="Georgia"/>
              </a:rPr>
              <a:t>Clasificación + Wind Sifter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5486400" cy="4114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1. Zarandas → separan grueso / mediano / fino / polvo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   por mallas vibratorias.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2. El material grueso vuelve al molino.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3. WIND SIFTER (clasificador por aire)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   Una corriente ascendente separa partículas por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   peso aerodinámico: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    – ligero y útil → sube al silo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    – pesado / piedras / metales → cae y se descarta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   También hay imán para retirar metales antes de prensa.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★ Wind Sifter explicado a partir de manuales de plantas de tablero — el término que usaron en planta.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8B5A2B"/>
                </a:solidFill>
                <a:latin typeface="Calibri"/>
              </a:rPr>
              <a:t>PASO 7–8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A1F"/>
                </a:solidFill>
                <a:latin typeface="Georgia"/>
              </a:rPr>
              <a:t>Encolado, prensado y tablero final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743200" cy="274320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5F2E8"/>
                </a:solidFill>
                <a:latin typeface="Georgi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C5F2D"/>
                </a:solidFill>
                <a:latin typeface="Georgia"/>
              </a:rPr>
              <a:t>Silos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23774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Almacén intermedio.</a:t>
            </a:r>
          </a:p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Material seco y</a:t>
            </a:r>
          </a:p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clasificado, listo</a:t>
            </a:r>
          </a:p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para mezclar.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91840" y="3063240"/>
            <a:ext cx="137160" cy="274320"/>
          </a:xfrm>
          <a:prstGeom prst="rightArrow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828800"/>
            <a:ext cx="2743200" cy="274320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2011680"/>
            <a:ext cx="502920" cy="502920"/>
          </a:xfrm>
          <a:prstGeom prst="ellipse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5F2E8"/>
                </a:solidFill>
                <a:latin typeface="Georgia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65176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C5F2D"/>
                </a:solidFill>
                <a:latin typeface="Georgia"/>
              </a:rPr>
              <a:t>Encolado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154680"/>
            <a:ext cx="23774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Resina + cera +</a:t>
            </a:r>
          </a:p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endurecedor se dosifican</a:t>
            </a:r>
          </a:p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según peso. Receta</a:t>
            </a:r>
          </a:p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varía por producto.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72200" y="3063240"/>
            <a:ext cx="137160" cy="274320"/>
          </a:xfrm>
          <a:prstGeom prst="rightArrow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828800"/>
            <a:ext cx="2743200" cy="274320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5F2E8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5176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C5F2D"/>
                </a:solidFill>
                <a:latin typeface="Georgia"/>
              </a:rPr>
              <a:t>Formación + Prensa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154680"/>
            <a:ext cx="23774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Se forma una colchoneta</a:t>
            </a:r>
          </a:p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y se prensa caliente.</a:t>
            </a:r>
          </a:p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Inyección de vapor acelera</a:t>
            </a:r>
          </a:p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el curado.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052560" y="3063240"/>
            <a:ext cx="137160" cy="274320"/>
          </a:xfrm>
          <a:prstGeom prst="rightArrow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828800"/>
            <a:ext cx="2743200" cy="274320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72600" y="2011680"/>
            <a:ext cx="502920" cy="502920"/>
          </a:xfrm>
          <a:prstGeom prst="ellipse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5F2E8"/>
                </a:solidFill>
                <a:latin typeface="Georgia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651760"/>
            <a:ext cx="2377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C5F2D"/>
                </a:solidFill>
                <a:latin typeface="Georgia"/>
              </a:rPr>
              <a:t>Lijado + Corte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154680"/>
            <a:ext cx="23774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El tablero sale, se enfría,</a:t>
            </a:r>
          </a:p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se lija a espesor y se corta</a:t>
            </a:r>
          </a:p>
          <a:p>
            <a:pPr algn="l"/>
            <a:r>
              <a:rPr sz="1200" b="0" i="0">
                <a:solidFill>
                  <a:srgbClr val="1F2A1F"/>
                </a:solidFill>
                <a:latin typeface="Calibri"/>
              </a:rPr>
              <a:t>al tamaño final.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2C5F2D"/>
                </a:solidFill>
                <a:latin typeface="Georgia"/>
              </a:rPr>
              <a:t>Productos mencionados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49240"/>
            <a:ext cx="54864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MDP estándar — uso interior seco.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Receta más ligera en chip tropical.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49240"/>
            <a:ext cx="54864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MDP-RH (resistente a la humedad) — p. ej. 19 mm.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Más chip tropical en la receta; resina apropiada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para ambientes húmedos.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8B5A2B"/>
                </a:solidFill>
                <a:latin typeface="Calibri"/>
              </a:rPr>
              <a:t>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A1F"/>
                </a:solidFill>
                <a:latin typeface="Georgia"/>
              </a:rPr>
              <a:t>Reportería de descargas: el problema observado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2C5F2D"/>
                </a:solidFill>
                <a:latin typeface="Georgia"/>
              </a:rPr>
              <a:t>Lo que SÍ se mide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54864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• Hora de entrada y salida en balanza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• Placa, proveedor, transportista, especie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• Peso de entrada y salida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• Ubicación de descarga asignada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F2A1F"/>
                </a:solidFill>
                <a:latin typeface="Calibri"/>
              </a:rPr>
              <a:t>Semáforo de tiempo total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074920"/>
            <a:ext cx="457200" cy="274320"/>
          </a:xfrm>
          <a:prstGeom prst="rect">
            <a:avLst/>
          </a:prstGeom>
          <a:solidFill>
            <a:srgbClr val="4C9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056632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2A1F"/>
                </a:solidFill>
                <a:latin typeface="Calibri"/>
              </a:rPr>
              <a:t>Verde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5056632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≤ 1 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440680"/>
            <a:ext cx="457200" cy="274320"/>
          </a:xfrm>
          <a:prstGeom prst="rect">
            <a:avLst/>
          </a:prstGeom>
          <a:solidFill>
            <a:srgbClr val="E5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422392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2A1F"/>
                </a:solidFill>
                <a:latin typeface="Calibri"/>
              </a:rPr>
              <a:t>Amarillo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5422392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1 h – 1 h 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806440"/>
            <a:ext cx="457200" cy="274320"/>
          </a:xfrm>
          <a:prstGeom prst="rect">
            <a:avLst/>
          </a:prstGeom>
          <a:solidFill>
            <a:srgbClr val="C04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5788152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2A1F"/>
                </a:solidFill>
                <a:latin typeface="Calibri"/>
              </a:rPr>
              <a:t>Rojo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5788152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&gt; 2 h 30 — extremos 5 h+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8B5A2B"/>
                </a:solidFill>
                <a:latin typeface="Georgia"/>
              </a:rPr>
              <a:t>Lo que NO distingue el sistema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31720"/>
            <a:ext cx="5486400" cy="4114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El tiempo registrado mezcla: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  espera + traslado + descarga real + salida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Un camión puede estar 3 h dentro y solo 30 min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haber sido descarga real. No hay forma de saber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si la demora fue el operador, la grúa, o el camión.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Casos extremos &gt; 5 h se penalizan en bono de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producción, aunque el motivo a veces sea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organización interna (grúas desviadas a alimentar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producción cuando bajan las rumas de consumo).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8B5A2B"/>
                </a:solidFill>
                <a:latin typeface="Calibri"/>
              </a:rPr>
              <a:t>SISTEMAS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A1F"/>
                </a:solidFill>
                <a:latin typeface="Georgia"/>
              </a:rPr>
              <a:t>Las herramientas que vi en planta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532120" cy="219456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28016" cy="21945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5074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2C5F2D"/>
                </a:solidFill>
                <a:latin typeface="Georgia"/>
              </a:rPr>
              <a:t>ANIME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50749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Sistema de recepción / ingreso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de madera. Panel de balanza con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proveedor, especie, peso, hora.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11880"/>
            <a:ext cx="5074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★ Nombre exacto por confirmar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532120" cy="219456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128016" cy="21945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5074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2C5F2D"/>
                </a:solidFill>
                <a:latin typeface="Georgia"/>
              </a:rPr>
              <a:t>IFO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50749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Aplicativo en dispositivo tipo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celular con lector de código de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barras. Operadores reportan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consumo desde la ruma.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11880"/>
            <a:ext cx="5074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★ Nombre exacto por confirmar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51960"/>
            <a:ext cx="5532120" cy="219456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251960"/>
            <a:ext cx="128016" cy="21945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89120"/>
            <a:ext cx="5074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2C5F2D"/>
                </a:solidFill>
                <a:latin typeface="Georgia"/>
              </a:rPr>
              <a:t>IDMAD / ITMAD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92040"/>
            <a:ext cx="50749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Almacén con UBICACIÓN.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Identifica dónde está cada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especie en patio (P07001 = Patio 7,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ubicación 01).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035040"/>
            <a:ext cx="5074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Nivel «físico» del inventario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251960"/>
            <a:ext cx="5532120" cy="219456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251960"/>
            <a:ext cx="128016" cy="21945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389120"/>
            <a:ext cx="5074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2C5F2D"/>
                </a:solidFill>
                <a:latin typeface="Georgia"/>
              </a:rPr>
              <a:t>PERMAL / PEREMAL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892040"/>
            <a:ext cx="507492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Almacén SIN ubicación pero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vinculado a producción.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Acumula toneladas listas para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consumo del día.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6035040"/>
            <a:ext cx="5074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Nivel «consumible» del inventario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8B5A2B"/>
                </a:solidFill>
                <a:latin typeface="Calibri"/>
              </a:rPr>
              <a:t>REFLEXIÓN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F2A1F"/>
                </a:solidFill>
                <a:latin typeface="Georgia"/>
              </a:rPr>
              <a:t>Oportunidades de mejora detectadas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532120" cy="219456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103120"/>
            <a:ext cx="640080" cy="640080"/>
          </a:xfrm>
          <a:prstGeom prst="ellipse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103120"/>
            <a:ext cx="4343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C5F2D"/>
                </a:solidFill>
                <a:latin typeface="Georgia"/>
              </a:rPr>
              <a:t>Medir cada etapa por separado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743200"/>
            <a:ext cx="43434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Separar espera, traslado, descarga y salida.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Hoy todo se mezcla en un solo tiempo.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828800"/>
            <a:ext cx="5532120" cy="219456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92240" y="2103120"/>
            <a:ext cx="640080" cy="640080"/>
          </a:xfrm>
          <a:prstGeom prst="ellipse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03120"/>
            <a:ext cx="4343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C5F2D"/>
                </a:solidFill>
                <a:latin typeface="Georgia"/>
              </a:rPr>
              <a:t>Alertas activas para supervisores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743200"/>
            <a:ext cx="43434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Notificar al supervisor cuando un camión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lleve más de X minutos sin descarga.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51960"/>
            <a:ext cx="5532120" cy="219456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4526280"/>
            <a:ext cx="640080" cy="640080"/>
          </a:xfrm>
          <a:prstGeom prst="ellipse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526280"/>
            <a:ext cx="4343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C5F2D"/>
                </a:solidFill>
                <a:latin typeface="Georgia"/>
              </a:rPr>
              <a:t>Visibilidad del trade-off de grúas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166360"/>
            <a:ext cx="43434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Saber cuántas grúas están en descarga vs.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alimentando rumas de consumo en tiempo real.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251960"/>
            <a:ext cx="5532120" cy="2194560"/>
          </a:xfrm>
          <a:prstGeom prst="rect">
            <a:avLst/>
          </a:prstGeom>
          <a:solidFill>
            <a:srgbClr val="ECE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0" y="4526280"/>
            <a:ext cx="640080" cy="640080"/>
          </a:xfrm>
          <a:prstGeom prst="ellipse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526280"/>
            <a:ext cx="4343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C5F2D"/>
                </a:solidFill>
                <a:latin typeface="Georgia"/>
              </a:rPr>
              <a:t>Documentar la receta del día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5166360"/>
            <a:ext cx="43434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Capturar la receta (especies + proporciones)</a:t>
            </a:r>
          </a:p>
          <a:p>
            <a:pPr algn="l"/>
            <a:r>
              <a:rPr sz="1300" b="0" i="0">
                <a:solidFill>
                  <a:srgbClr val="1F2A1F"/>
                </a:solidFill>
                <a:latin typeface="Calibri"/>
              </a:rPr>
              <a:t>junto con humedad real, no solo verbal.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97BC62"/>
                </a:solidFill>
                <a:latin typeface="Calibri"/>
              </a:rPr>
              <a:t>EN UNA FRASE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5F2E8"/>
                </a:solidFill>
                <a:latin typeface="Georgia"/>
              </a:rPr>
              <a:t>Novopan coordina recepción,</a:t>
            </a:r>
          </a:p>
          <a:p>
            <a:pPr algn="l"/>
            <a:r>
              <a:rPr sz="3800" b="1" i="0">
                <a:solidFill>
                  <a:srgbClr val="F5F2E8"/>
                </a:solidFill>
                <a:latin typeface="Georgia"/>
              </a:rPr>
              <a:t>patios, humedad, trituración,</a:t>
            </a:r>
          </a:p>
          <a:p>
            <a:pPr algn="l"/>
            <a:r>
              <a:rPr sz="3800" b="1" i="0">
                <a:solidFill>
                  <a:srgbClr val="F5F2E8"/>
                </a:solidFill>
                <a:latin typeface="Georgia"/>
              </a:rPr>
              <a:t>secado, clasificación y prensa</a:t>
            </a:r>
          </a:p>
          <a:p>
            <a:pPr algn="l"/>
            <a:r>
              <a:rPr sz="3800" b="1" i="0">
                <a:solidFill>
                  <a:srgbClr val="F5F2E8"/>
                </a:solidFill>
                <a:latin typeface="Georgia"/>
              </a:rPr>
              <a:t>para convertir muchas especies</a:t>
            </a:r>
          </a:p>
          <a:p>
            <a:pPr algn="l"/>
            <a:r>
              <a:rPr sz="3800" b="1" i="0">
                <a:solidFill>
                  <a:srgbClr val="F5F2E8"/>
                </a:solidFill>
                <a:latin typeface="Georgia"/>
              </a:rPr>
              <a:t>en un tablero consistente.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CFE0B8"/>
                </a:solidFill>
                <a:latin typeface="Calibri"/>
              </a:rPr>
              <a:t>Lo más interesante no es una máquina, sino la RECETA del día: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F5F2E8"/>
                </a:solidFill>
                <a:latin typeface="Calibri"/>
              </a:rPr>
              <a:t>qué especies, en qué proporción, con qué humedad — para que la línea no se frene.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